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6" r:id="rId5"/>
    <p:sldId id="257" r:id="rId6"/>
    <p:sldId id="258" r:id="rId7"/>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11"/>
    <p:restoredTop sz="94703"/>
  </p:normalViewPr>
  <p:slideViewPr>
    <p:cSldViewPr snapToGrid="0">
      <p:cViewPr varScale="1">
        <p:scale>
          <a:sx n="34" d="100"/>
          <a:sy n="34" d="100"/>
        </p:scale>
        <p:origin x="370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17/06/2026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17/06/2026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17/06/2026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17/06/2026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17/06/2026</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17/06/2026</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17/06/2026</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17/06/2026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17/06/2026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17/06/2026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17/06/2026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17/06/2026</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97235A6-1E40-7550-49FE-93E2DA69811F}"/>
              </a:ext>
            </a:extLst>
          </p:cNvPr>
          <p:cNvPicPr>
            <a:picLocks noChangeAspect="1"/>
          </p:cNvPicPr>
          <p:nvPr/>
        </p:nvPicPr>
        <p:blipFill>
          <a:blip r:embed="rId2"/>
          <a:stretch>
            <a:fillRect/>
          </a:stretch>
        </p:blipFill>
        <p:spPr>
          <a:xfrm>
            <a:off x="0" y="-5895"/>
            <a:ext cx="4834200" cy="3276938"/>
          </a:xfrm>
          <a:prstGeom prst="rect">
            <a:avLst/>
          </a:prstGeom>
        </p:spPr>
      </p:pic>
      <p:pic>
        <p:nvPicPr>
          <p:cNvPr id="1028" name="Picture 4">
            <a:extLst>
              <a:ext uri="{FF2B5EF4-FFF2-40B4-BE49-F238E27FC236}">
                <a16:creationId xmlns:a16="http://schemas.microsoft.com/office/drawing/2014/main" id="{AF1EAE33-9AD6-0CD3-1C83-430AF00F9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50766" y="-95517"/>
            <a:ext cx="2730517" cy="1644647"/>
          </a:xfrm>
          <a:prstGeom prst="rect">
            <a:avLst/>
          </a:prstGeom>
          <a:noFill/>
          <a:extLst>
            <a:ext uri="{909E8E84-426E-40DD-AFC4-6F175D3DCCD1}">
              <a14:hiddenFill xmlns:a14="http://schemas.microsoft.com/office/drawing/2010/main">
                <a:solidFill>
                  <a:srgbClr val="FFFFFF"/>
                </a:solidFill>
              </a14:hiddenFill>
            </a:ext>
          </a:extLst>
        </p:spPr>
      </p:pic>
      <p:sp>
        <p:nvSpPr>
          <p:cNvPr id="27" name="Rectángulo 26">
            <a:extLst>
              <a:ext uri="{FF2B5EF4-FFF2-40B4-BE49-F238E27FC236}">
                <a16:creationId xmlns:a16="http://schemas.microsoft.com/office/drawing/2014/main" id="{2A8908FC-06DB-CC20-4597-9C79E3E1300F}"/>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8" name="Rectángulo redondeado 27">
            <a:extLst>
              <a:ext uri="{FF2B5EF4-FFF2-40B4-BE49-F238E27FC236}">
                <a16:creationId xmlns:a16="http://schemas.microsoft.com/office/drawing/2014/main" id="{F3826BEE-6C42-E5BE-B7F2-93F3C600A2F9}"/>
              </a:ext>
            </a:extLst>
          </p:cNvPr>
          <p:cNvSpPr/>
          <p:nvPr/>
        </p:nvSpPr>
        <p:spPr>
          <a:xfrm>
            <a:off x="964643" y="2007220"/>
            <a:ext cx="13190066" cy="18806265"/>
          </a:xfrm>
          <a:prstGeom prst="roundRect">
            <a:avLst>
              <a:gd name="adj" fmla="val 3587"/>
            </a:avLst>
          </a:prstGeom>
          <a:gradFill>
            <a:gsLst>
              <a:gs pos="100000">
                <a:srgbClr val="4196C9"/>
              </a:gs>
              <a:gs pos="0">
                <a:srgbClr val="59C2E3"/>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t"/>
          <a:lstStyle/>
          <a:p>
            <a:pPr algn="ctr"/>
            <a:r>
              <a:rPr lang="es-ES_tradnl" sz="4800" b="1" dirty="0">
                <a:solidFill>
                  <a:schemeClr val="bg1"/>
                </a:solidFill>
              </a:rPr>
              <a:t>Normas para el uso de la plantilla en las actividades grupales</a:t>
            </a:r>
          </a:p>
          <a:p>
            <a:pPr algn="ctr"/>
            <a:endParaRPr lang="es-ES_tradnl" sz="4800" b="1" i="1" dirty="0">
              <a:solidFill>
                <a:schemeClr val="bg1"/>
              </a:solidFill>
            </a:endParaRPr>
          </a:p>
          <a:p>
            <a:pPr marL="742950" indent="-742950">
              <a:buFont typeface="+mj-lt"/>
              <a:buAutoNum type="arabicPeriod"/>
            </a:pPr>
            <a:r>
              <a:rPr lang="es-ES_tradnl" sz="2600" dirty="0">
                <a:solidFill>
                  <a:schemeClr val="bg1"/>
                </a:solidFill>
              </a:rPr>
              <a:t>Este póster en idioma </a:t>
            </a:r>
            <a:r>
              <a:rPr lang="es-ES_tradnl" sz="2600" u="sng" dirty="0">
                <a:solidFill>
                  <a:schemeClr val="bg1"/>
                </a:solidFill>
              </a:rPr>
              <a:t>castellano</a:t>
            </a:r>
            <a:r>
              <a:rPr lang="es-ES_tradnl" sz="2600" dirty="0">
                <a:solidFill>
                  <a:schemeClr val="bg1"/>
                </a:solidFill>
              </a:rPr>
              <a:t> servirá para presentar de forma sintética y visual el trabajo realizado en cada actividad grupal. La correcta presentación y formato serán tenidos en cuenta en la evaluación.</a:t>
            </a:r>
          </a:p>
          <a:p>
            <a:pPr marL="742950" indent="-742950">
              <a:buFont typeface="+mj-lt"/>
              <a:buAutoNum type="arabicPeriod"/>
            </a:pPr>
            <a:endParaRPr lang="es-ES_tradnl" sz="2600" dirty="0">
              <a:solidFill>
                <a:schemeClr val="bg1"/>
              </a:solidFill>
            </a:endParaRPr>
          </a:p>
          <a:p>
            <a:pPr marL="742950" indent="-742950">
              <a:buFont typeface="+mj-lt"/>
              <a:buAutoNum type="arabicPeriod"/>
            </a:pPr>
            <a:r>
              <a:rPr lang="es-ES_tradnl" sz="2600" dirty="0">
                <a:solidFill>
                  <a:schemeClr val="bg1"/>
                </a:solidFill>
              </a:rPr>
              <a:t>Se deberá respetar el orden y el contenido de las siguientes secciones (</a:t>
            </a:r>
            <a:r>
              <a:rPr lang="es-ES_tradnl" sz="2600" u="sng" dirty="0">
                <a:solidFill>
                  <a:schemeClr val="bg1"/>
                </a:solidFill>
              </a:rPr>
              <a:t>Hoja 3 de la PPT</a:t>
            </a:r>
            <a:r>
              <a:rPr lang="es-ES_tradnl" sz="2600" dirty="0">
                <a:solidFill>
                  <a:schemeClr val="bg1"/>
                </a:solidFill>
              </a:rPr>
              <a:t>): </a:t>
            </a:r>
          </a:p>
          <a:p>
            <a:pPr marL="1314450" lvl="1" indent="-282575">
              <a:buFont typeface="Arial" panose="020B0604020202020204" pitchFamily="34" charset="0"/>
              <a:buChar char="•"/>
            </a:pPr>
            <a:r>
              <a:rPr lang="es-ES_tradnl" sz="2600" dirty="0">
                <a:solidFill>
                  <a:schemeClr val="bg1"/>
                </a:solidFill>
              </a:rPr>
              <a:t>Encabezado del póster: Título de la actividad, Nombres de los integrantes, Nombre de la asignatura (ej. Secuenciación y </a:t>
            </a:r>
            <a:r>
              <a:rPr lang="es-ES_tradnl" sz="2600" dirty="0" err="1">
                <a:solidFill>
                  <a:schemeClr val="bg1"/>
                </a:solidFill>
              </a:rPr>
              <a:t>Ómicas</a:t>
            </a:r>
            <a:r>
              <a:rPr lang="es-ES_tradnl" sz="2600" dirty="0">
                <a:solidFill>
                  <a:schemeClr val="bg1"/>
                </a:solidFill>
              </a:rPr>
              <a:t> de Próxima Generación etc.)</a:t>
            </a:r>
          </a:p>
          <a:p>
            <a:pPr marL="1314450" lvl="1" indent="-282575">
              <a:buFont typeface="Arial" panose="020B0604020202020204" pitchFamily="34" charset="0"/>
              <a:buChar char="•"/>
            </a:pPr>
            <a:r>
              <a:rPr lang="es-ES_tradnl" sz="2600" dirty="0">
                <a:solidFill>
                  <a:schemeClr val="bg1"/>
                </a:solidFill>
              </a:rPr>
              <a:t>Introducción (2-3 líneas máximo): Breve contexto del análisis, Hipótesis planteada, Objetivo específico</a:t>
            </a:r>
          </a:p>
          <a:p>
            <a:pPr marL="1314450" lvl="1" indent="-282575">
              <a:buFont typeface="Arial" panose="020B0604020202020204" pitchFamily="34" charset="0"/>
              <a:buChar char="•"/>
            </a:pPr>
            <a:r>
              <a:rPr lang="es-ES_tradnl" sz="2600" dirty="0">
                <a:solidFill>
                  <a:schemeClr val="bg1"/>
                </a:solidFill>
              </a:rPr>
              <a:t>Metodología: Descripción concisa del enfoque utilizado, Herramientas bioinformáticas o estadísticas empleadas, Bases de datos o fuentes utilizadas</a:t>
            </a:r>
          </a:p>
          <a:p>
            <a:pPr marL="1314450" lvl="1" indent="-282575">
              <a:buFont typeface="Arial" panose="020B0604020202020204" pitchFamily="34" charset="0"/>
              <a:buChar char="•"/>
            </a:pPr>
            <a:r>
              <a:rPr lang="es-ES_tradnl" sz="2600" dirty="0">
                <a:solidFill>
                  <a:schemeClr val="bg1"/>
                </a:solidFill>
              </a:rPr>
              <a:t>Resultados: Uso  de </a:t>
            </a:r>
            <a:r>
              <a:rPr lang="es-ES_tradnl" sz="2600" u="sng" dirty="0">
                <a:solidFill>
                  <a:schemeClr val="bg1"/>
                </a:solidFill>
              </a:rPr>
              <a:t>gráficos</a:t>
            </a:r>
            <a:r>
              <a:rPr lang="es-ES_tradnl" sz="2600" dirty="0">
                <a:solidFill>
                  <a:schemeClr val="bg1"/>
                </a:solidFill>
              </a:rPr>
              <a:t> o visualizaciones adecuadas (figuras legibles y bien etiquetadas) que expliquen solas los resultados. Cada Gráfica deberá tener un título y si es conveniente un pie de figura. </a:t>
            </a:r>
            <a:r>
              <a:rPr lang="es-ES_tradnl" sz="2600" u="sng" dirty="0">
                <a:solidFill>
                  <a:schemeClr val="bg1"/>
                </a:solidFill>
              </a:rPr>
              <a:t>No permitido añadir texto para complementar la explicación.</a:t>
            </a:r>
          </a:p>
          <a:p>
            <a:pPr marL="1314450" lvl="1" indent="-282575">
              <a:buFont typeface="Arial" panose="020B0604020202020204" pitchFamily="34" charset="0"/>
              <a:buChar char="•"/>
            </a:pPr>
            <a:r>
              <a:rPr lang="es-ES_tradnl" sz="2600" dirty="0">
                <a:solidFill>
                  <a:schemeClr val="bg1"/>
                </a:solidFill>
              </a:rPr>
              <a:t>Discusión: Interpretación de los resultados, Identificación de genes clave, Posibles relaciones con condiciones biológicas relevantes</a:t>
            </a:r>
          </a:p>
          <a:p>
            <a:pPr marL="1314450" lvl="1" indent="-282575">
              <a:buFont typeface="Arial" panose="020B0604020202020204" pitchFamily="34" charset="0"/>
              <a:buChar char="•"/>
            </a:pPr>
            <a:r>
              <a:rPr lang="es-ES_tradnl" sz="2600" dirty="0">
                <a:solidFill>
                  <a:schemeClr val="bg1"/>
                </a:solidFill>
              </a:rPr>
              <a:t>Conclusiones: Resumen de los principales hallazgos, Limitaciones detectadas en el análisis, Propuestas futuras (si aplica)</a:t>
            </a:r>
          </a:p>
          <a:p>
            <a:pPr marL="1314450" lvl="1" indent="-282575">
              <a:buFont typeface="Arial" panose="020B0604020202020204" pitchFamily="34" charset="0"/>
              <a:buChar char="•"/>
            </a:pPr>
            <a:endParaRPr lang="es-ES_tradnl" sz="2600" dirty="0">
              <a:solidFill>
                <a:schemeClr val="bg1"/>
              </a:solidFill>
            </a:endParaRPr>
          </a:p>
          <a:p>
            <a:pPr marL="742950" lvl="1" indent="-742950">
              <a:buFont typeface="+mj-lt"/>
              <a:buAutoNum type="arabicPeriod" startAt="3"/>
            </a:pPr>
            <a:r>
              <a:rPr lang="es-ES_tradnl" sz="2600" dirty="0">
                <a:solidFill>
                  <a:schemeClr val="bg1"/>
                </a:solidFill>
              </a:rPr>
              <a:t>Normas de formato y presentación:</a:t>
            </a:r>
          </a:p>
          <a:p>
            <a:pPr marL="1489075" lvl="1" indent="-457200">
              <a:buFont typeface="Arial" panose="020B0604020202020204" pitchFamily="34" charset="0"/>
              <a:buChar char="•"/>
            </a:pPr>
            <a:r>
              <a:rPr lang="es-ES_tradnl" sz="2600" dirty="0">
                <a:solidFill>
                  <a:schemeClr val="bg1"/>
                </a:solidFill>
              </a:rPr>
              <a:t>NO se permite modificar el formato original de la plantilla.</a:t>
            </a:r>
          </a:p>
          <a:p>
            <a:pPr marL="1489075" lvl="1" indent="-457200">
              <a:buFont typeface="Arial" panose="020B0604020202020204" pitchFamily="34" charset="0"/>
              <a:buChar char="•"/>
            </a:pPr>
            <a:r>
              <a:rPr lang="es-ES_tradnl" sz="2600" dirty="0">
                <a:solidFill>
                  <a:schemeClr val="bg1"/>
                </a:solidFill>
              </a:rPr>
              <a:t>Cualquier alteración del diseño será penalizada (colores, márgenes, fuentes, estructura).</a:t>
            </a:r>
          </a:p>
          <a:p>
            <a:pPr marL="1489075" lvl="1" indent="-457200">
              <a:buFont typeface="Arial" panose="020B0604020202020204" pitchFamily="34" charset="0"/>
              <a:buChar char="•"/>
            </a:pPr>
            <a:r>
              <a:rPr lang="es-ES_tradnl" sz="2600" dirty="0">
                <a:solidFill>
                  <a:schemeClr val="bg1"/>
                </a:solidFill>
              </a:rPr>
              <a:t>Tipografía obligatoria: </a:t>
            </a:r>
          </a:p>
          <a:p>
            <a:pPr marL="2403475" lvl="3" indent="-457200">
              <a:buFont typeface="Wingdings" pitchFamily="2" charset="2"/>
              <a:buChar char="Ø"/>
            </a:pPr>
            <a:r>
              <a:rPr lang="es-ES_tradnl" sz="2600" dirty="0">
                <a:solidFill>
                  <a:schemeClr val="bg1"/>
                </a:solidFill>
              </a:rPr>
              <a:t>Texto: Aptos (Cuerpo) 18</a:t>
            </a:r>
          </a:p>
          <a:p>
            <a:pPr marL="2403475" lvl="3" indent="-457200">
              <a:buFont typeface="Wingdings" pitchFamily="2" charset="2"/>
              <a:buChar char="Ø"/>
            </a:pPr>
            <a:r>
              <a:rPr lang="es-ES_tradnl" sz="2600" dirty="0">
                <a:solidFill>
                  <a:schemeClr val="bg1"/>
                </a:solidFill>
              </a:rPr>
              <a:t>No se permite el uso de otras tipografías ni cambios en el tamaño establecido.</a:t>
            </a:r>
          </a:p>
          <a:p>
            <a:pPr marL="1489075" lvl="1" indent="-457200">
              <a:buFont typeface="Arial" panose="020B0604020202020204" pitchFamily="34" charset="0"/>
              <a:buChar char="•"/>
            </a:pPr>
            <a:r>
              <a:rPr lang="es-ES_tradnl" sz="2600" dirty="0">
                <a:solidFill>
                  <a:schemeClr val="bg1"/>
                </a:solidFill>
              </a:rPr>
              <a:t>Redacción: Clara, precisa y científica.</a:t>
            </a:r>
          </a:p>
          <a:p>
            <a:pPr marL="1489075" lvl="1" indent="-457200">
              <a:buFont typeface="Arial" panose="020B0604020202020204" pitchFamily="34" charset="0"/>
              <a:buChar char="•"/>
            </a:pPr>
            <a:r>
              <a:rPr lang="es-ES_tradnl" sz="2600" dirty="0">
                <a:solidFill>
                  <a:schemeClr val="bg1"/>
                </a:solidFill>
              </a:rPr>
              <a:t>Se valorará la coherencia entre secciones.</a:t>
            </a:r>
          </a:p>
          <a:p>
            <a:pPr marL="1489075" lvl="1" indent="-457200">
              <a:buFont typeface="Arial" panose="020B0604020202020204" pitchFamily="34" charset="0"/>
              <a:buChar char="•"/>
            </a:pPr>
            <a:r>
              <a:rPr lang="es-ES_tradnl" sz="2600" dirty="0">
                <a:solidFill>
                  <a:schemeClr val="bg1"/>
                </a:solidFill>
              </a:rPr>
              <a:t>Evitar lenguaje coloquial.</a:t>
            </a:r>
          </a:p>
          <a:p>
            <a:pPr marL="1489075" lvl="1" indent="-457200">
              <a:buFont typeface="Arial" panose="020B0604020202020204" pitchFamily="34" charset="0"/>
              <a:buChar char="•"/>
            </a:pPr>
            <a:r>
              <a:rPr lang="es-ES_tradnl" sz="2600" dirty="0">
                <a:solidFill>
                  <a:schemeClr val="bg1"/>
                </a:solidFill>
              </a:rPr>
              <a:t>Ortografía:</a:t>
            </a:r>
          </a:p>
          <a:p>
            <a:pPr marL="2403475" lvl="3" indent="-457200">
              <a:buFont typeface="Wingdings" pitchFamily="2" charset="2"/>
              <a:buChar char="Ø"/>
            </a:pPr>
            <a:r>
              <a:rPr lang="es-ES_tradnl" sz="2600" dirty="0">
                <a:solidFill>
                  <a:schemeClr val="bg1"/>
                </a:solidFill>
              </a:rPr>
              <a:t>No se permiten faltas ortográficas ni errores gramaticales.</a:t>
            </a:r>
          </a:p>
          <a:p>
            <a:pPr marL="1489075" lvl="1" indent="-457200">
              <a:buFont typeface="Arial" panose="020B0604020202020204" pitchFamily="34" charset="0"/>
              <a:buChar char="•"/>
            </a:pPr>
            <a:r>
              <a:rPr lang="es-ES_tradnl" sz="2600" dirty="0">
                <a:solidFill>
                  <a:schemeClr val="bg1"/>
                </a:solidFill>
              </a:rPr>
              <a:t>Visuales:</a:t>
            </a:r>
          </a:p>
          <a:p>
            <a:pPr marL="2403475" lvl="3" indent="-457200">
              <a:buFont typeface="Wingdings" pitchFamily="2" charset="2"/>
              <a:buChar char="Ø"/>
            </a:pPr>
            <a:r>
              <a:rPr lang="es-ES_tradnl" sz="2600" dirty="0">
                <a:solidFill>
                  <a:schemeClr val="bg1"/>
                </a:solidFill>
              </a:rPr>
              <a:t>Todas las gráficas deben estar bien etiquetadas, con leyendas claras (todas las tipografías permitidas).</a:t>
            </a:r>
          </a:p>
          <a:p>
            <a:pPr marL="2403475" lvl="3" indent="-457200">
              <a:buFont typeface="Wingdings" pitchFamily="2" charset="2"/>
              <a:buChar char="Ø"/>
            </a:pPr>
            <a:r>
              <a:rPr lang="es-ES_tradnl" sz="2600" dirty="0">
                <a:solidFill>
                  <a:schemeClr val="bg1"/>
                </a:solidFill>
              </a:rPr>
              <a:t>No sobrecargar el póster con texto o imágenes innecesarias.</a:t>
            </a:r>
          </a:p>
        </p:txBody>
      </p:sp>
    </p:spTree>
    <p:extLst>
      <p:ext uri="{BB962C8B-B14F-4D97-AF65-F5344CB8AC3E}">
        <p14:creationId xmlns:p14="http://schemas.microsoft.com/office/powerpoint/2010/main" val="3205397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01741A3D-E56A-6A90-DD91-76A3ADF8E205}"/>
            </a:ext>
          </a:extLst>
        </p:cNvPr>
        <p:cNvGrpSpPr/>
        <p:nvPr/>
      </p:nvGrpSpPr>
      <p:grpSpPr>
        <a:xfrm>
          <a:off x="0" y="0"/>
          <a:ext cx="0" cy="0"/>
          <a:chOff x="0" y="0"/>
          <a:chExt cx="0" cy="0"/>
        </a:xfrm>
      </p:grpSpPr>
      <p:grpSp>
        <p:nvGrpSpPr>
          <p:cNvPr id="9" name="Grupo 8">
            <a:extLst>
              <a:ext uri="{FF2B5EF4-FFF2-40B4-BE49-F238E27FC236}">
                <a16:creationId xmlns:a16="http://schemas.microsoft.com/office/drawing/2014/main" id="{5C953506-346C-A8BF-67B5-F34567C6BC6E}"/>
              </a:ext>
            </a:extLst>
          </p:cNvPr>
          <p:cNvGrpSpPr/>
          <p:nvPr/>
        </p:nvGrpSpPr>
        <p:grpSpPr>
          <a:xfrm>
            <a:off x="207596" y="7403672"/>
            <a:ext cx="14668990" cy="9665128"/>
            <a:chOff x="225180" y="8290675"/>
            <a:chExt cx="14668990" cy="9665128"/>
          </a:xfrm>
        </p:grpSpPr>
        <p:sp>
          <p:nvSpPr>
            <p:cNvPr id="16" name="Rectángulo redondeado 15">
              <a:extLst>
                <a:ext uri="{FF2B5EF4-FFF2-40B4-BE49-F238E27FC236}">
                  <a16:creationId xmlns:a16="http://schemas.microsoft.com/office/drawing/2014/main" id="{C870726C-A1BB-2615-E2FF-5658152644CA}"/>
                </a:ext>
              </a:extLst>
            </p:cNvPr>
            <p:cNvSpPr/>
            <p:nvPr/>
          </p:nvSpPr>
          <p:spPr>
            <a:xfrm>
              <a:off x="225180" y="8607197"/>
              <a:ext cx="14668990" cy="9348606"/>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43F36DFC-F638-779B-0878-B5E8AD53AD3E}"/>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grpSp>
        <p:nvGrpSpPr>
          <p:cNvPr id="4" name="Grupo 3">
            <a:extLst>
              <a:ext uri="{FF2B5EF4-FFF2-40B4-BE49-F238E27FC236}">
                <a16:creationId xmlns:a16="http://schemas.microsoft.com/office/drawing/2014/main" id="{5FCC48C4-680E-DC53-FF73-95EB091356FB}"/>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FEB7D3ED-CF02-C938-2FA1-39EE97AC2AA9}"/>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Este trabajo tiene como objetivo clasificar a los sujetos en distintos subgrupos nutricionales o </a:t>
              </a:r>
              <a:r>
                <a:rPr lang="es-ES_tradnl" i="1" dirty="0" err="1">
                  <a:solidFill>
                    <a:schemeClr val="tx1"/>
                  </a:solidFill>
                </a:rPr>
                <a:t>dietotipos</a:t>
              </a:r>
              <a:r>
                <a:rPr lang="es-ES_tradnl" i="1" dirty="0">
                  <a:solidFill>
                    <a:schemeClr val="tx1"/>
                  </a:solidFill>
                </a:rPr>
                <a:t> según su ingesta dietética y sus resultados de salud, utilizando métodos de reducción dimensional. Esta estrategia permite avanzar hacia intervenciones personalizadas que mejoren la salud cardiometabólica y la calidad de vida.</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3945C9BD-E878-C904-BB12-F0BA2D1763CA}"/>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7B23F5A3-8FA4-BB38-32D0-0ECAD0F925F2}"/>
              </a:ext>
            </a:extLst>
          </p:cNvPr>
          <p:cNvGrpSpPr/>
          <p:nvPr/>
        </p:nvGrpSpPr>
        <p:grpSpPr>
          <a:xfrm>
            <a:off x="207596" y="5235817"/>
            <a:ext cx="14668990" cy="1992925"/>
            <a:chOff x="207596" y="6110487"/>
            <a:chExt cx="14668990" cy="1992925"/>
          </a:xfrm>
        </p:grpSpPr>
        <p:sp>
          <p:nvSpPr>
            <p:cNvPr id="14" name="Rectángulo redondeado 13">
              <a:extLst>
                <a:ext uri="{FF2B5EF4-FFF2-40B4-BE49-F238E27FC236}">
                  <a16:creationId xmlns:a16="http://schemas.microsoft.com/office/drawing/2014/main" id="{CB14F1FF-25D2-FA75-CD9F-A24420348853}"/>
                </a:ext>
              </a:extLst>
            </p:cNvPr>
            <p:cNvSpPr/>
            <p:nvPr/>
          </p:nvSpPr>
          <p:spPr>
            <a:xfrm>
              <a:off x="207596" y="6427010"/>
              <a:ext cx="14668990" cy="1676402"/>
            </a:xfrm>
            <a:prstGeom prst="roundRect">
              <a:avLst>
                <a:gd name="adj" fmla="val 970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Se realizó un análisis exploratorio multidimensional con datos dietéticos detallados de la base de datos proporcionada, incluyendo cuestionarios validados (FFQ y recordatorio de 72h), medidas antropométricas y bioquímicas. Mediante un análisis de PCA se analizaron 85 variables estandarizadas (21 dietéticas y 64 nutricionales), identificándose cuatro componentes dietéticos principales. Se aplicó un </a:t>
              </a:r>
              <a:r>
                <a:rPr lang="es-ES_tradnl" i="1" dirty="0" err="1">
                  <a:solidFill>
                    <a:schemeClr val="tx1"/>
                  </a:solidFill>
                </a:rPr>
                <a:t>parallel</a:t>
              </a:r>
              <a:r>
                <a:rPr lang="es-ES_tradnl" i="1" dirty="0">
                  <a:solidFill>
                    <a:schemeClr val="tx1"/>
                  </a:solidFill>
                </a:rPr>
                <a:t> </a:t>
              </a:r>
              <a:r>
                <a:rPr lang="es-ES_tradnl" i="1" dirty="0" err="1">
                  <a:solidFill>
                    <a:schemeClr val="tx1"/>
                  </a:solidFill>
                </a:rPr>
                <a:t>analysis</a:t>
              </a:r>
              <a:r>
                <a:rPr lang="es-ES_tradnl" i="1" dirty="0">
                  <a:solidFill>
                    <a:schemeClr val="tx1"/>
                  </a:solidFill>
                </a:rPr>
                <a:t> para confirmar el número óptimo de factores, y se clasificó a los participantes según su grado de adherencia a cada patrón. Posteriormente, se evaluaron correlaciones de Spearman entre los factores dietéticos y 104 variables clínicas, ajustando por energía y posibles confusores</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F33D0645-E9FA-A931-364E-3210E3E69D6A}"/>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10" name="Grupo 9">
            <a:extLst>
              <a:ext uri="{FF2B5EF4-FFF2-40B4-BE49-F238E27FC236}">
                <a16:creationId xmlns:a16="http://schemas.microsoft.com/office/drawing/2014/main" id="{20BD9571-E0A9-AB44-7B64-0F522BA4288F}"/>
              </a:ext>
            </a:extLst>
          </p:cNvPr>
          <p:cNvGrpSpPr/>
          <p:nvPr/>
        </p:nvGrpSpPr>
        <p:grpSpPr>
          <a:xfrm>
            <a:off x="225181" y="17303689"/>
            <a:ext cx="9095800" cy="3844742"/>
            <a:chOff x="225181" y="17303689"/>
            <a:chExt cx="9095800" cy="3844742"/>
          </a:xfrm>
        </p:grpSpPr>
        <p:sp>
          <p:nvSpPr>
            <p:cNvPr id="22" name="Rectángulo redondeado 21">
              <a:extLst>
                <a:ext uri="{FF2B5EF4-FFF2-40B4-BE49-F238E27FC236}">
                  <a16:creationId xmlns:a16="http://schemas.microsoft.com/office/drawing/2014/main" id="{381B9892-98E6-4609-C6F1-567DBF51A163}"/>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Los cuatro patrones dietéticos identificados muestran perfiles nutricionales y clínicos diferenciados que permiten establecer relaciones entre la dieta y marcadores de salud metabólica. El patrón proto-omnívoro (F1p-O) se asoció positivamente con masa magra, agua corporal total y fuerza muscular, lo que sugiere un perfil metabólicamente activo. El patrón pro-vegetariano (F2p-V) mostró asociaciones favorables con vitaminas hidrosolubles y un menor nivel de insulina, apuntando a un posible efecto protector frente a la resistencia a la insulina. El patrón pro-Mediterráneo (F3p-M) se relacionó inversamente con interleucina-6 y zinc, lo que podría indicar un perfil antiinflamatorio. Por otro lado, el patrón pro-</a:t>
              </a:r>
              <a:r>
                <a:rPr lang="es-ES_tradnl" i="1" dirty="0" err="1">
                  <a:solidFill>
                    <a:schemeClr val="tx1"/>
                  </a:solidFill>
                </a:rPr>
                <a:t>pescetariano</a:t>
              </a:r>
              <a:r>
                <a:rPr lang="es-ES_tradnl" i="1" dirty="0">
                  <a:solidFill>
                    <a:schemeClr val="tx1"/>
                  </a:solidFill>
                </a:rPr>
                <a:t> saludable (F4p-P) mostró una correlación positiva con selenio, aunque no alcanzó significación tras el ajuste. Estos resultados respaldan la utilidad del enfoque de nutrición de precisión para identificar </a:t>
              </a:r>
              <a:r>
                <a:rPr lang="es-ES_tradnl" i="1" dirty="0" err="1">
                  <a:solidFill>
                    <a:schemeClr val="tx1"/>
                  </a:solidFill>
                </a:rPr>
                <a:t>dietotipos</a:t>
              </a:r>
              <a:r>
                <a:rPr lang="es-ES_tradnl" i="1" dirty="0">
                  <a:solidFill>
                    <a:schemeClr val="tx1"/>
                  </a:solidFill>
                </a:rPr>
                <a:t> con implicaciones clínicas, particularmente en el contexto del metabolismo y la inflamación, dos ejes clave en enfermedades como la obesidad y sus comorbilidades.</a:t>
              </a:r>
              <a:endParaRPr lang="es-ES_tradnl" sz="2400" i="1" dirty="0">
                <a:solidFill>
                  <a:schemeClr val="tx1"/>
                </a:solidFill>
              </a:endParaRPr>
            </a:p>
          </p:txBody>
        </p:sp>
        <p:sp>
          <p:nvSpPr>
            <p:cNvPr id="23" name="Rectángulo redondeado 22">
              <a:extLst>
                <a:ext uri="{FF2B5EF4-FFF2-40B4-BE49-F238E27FC236}">
                  <a16:creationId xmlns:a16="http://schemas.microsoft.com/office/drawing/2014/main" id="{A2D4C693-7BBD-E0C1-588A-41A91139D35B}"/>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11" name="Grupo 10">
            <a:extLst>
              <a:ext uri="{FF2B5EF4-FFF2-40B4-BE49-F238E27FC236}">
                <a16:creationId xmlns:a16="http://schemas.microsoft.com/office/drawing/2014/main" id="{623B4F90-B675-90D5-3A62-801C71241135}"/>
              </a:ext>
            </a:extLst>
          </p:cNvPr>
          <p:cNvGrpSpPr/>
          <p:nvPr/>
        </p:nvGrpSpPr>
        <p:grpSpPr>
          <a:xfrm>
            <a:off x="9527458" y="17303689"/>
            <a:ext cx="5366712" cy="3844742"/>
            <a:chOff x="7784856" y="17303689"/>
            <a:chExt cx="7109314" cy="3844742"/>
          </a:xfrm>
        </p:grpSpPr>
        <p:sp>
          <p:nvSpPr>
            <p:cNvPr id="24" name="Rectángulo redondeado 23">
              <a:extLst>
                <a:ext uri="{FF2B5EF4-FFF2-40B4-BE49-F238E27FC236}">
                  <a16:creationId xmlns:a16="http://schemas.microsoft.com/office/drawing/2014/main" id="{C0FDA565-7231-A04B-604B-CBBA360FA2A9}"/>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Nuestros hallazgos sugieren que los patrones dietéticos </a:t>
              </a:r>
              <a:r>
                <a:rPr lang="es-ES_tradnl" i="1" dirty="0" err="1">
                  <a:solidFill>
                    <a:schemeClr val="tx1"/>
                  </a:solidFill>
                </a:rPr>
                <a:t>protoomnívoros</a:t>
              </a:r>
              <a:r>
                <a:rPr lang="es-ES_tradnl" i="1" dirty="0">
                  <a:solidFill>
                    <a:schemeClr val="tx1"/>
                  </a:solidFill>
                </a:rPr>
                <a:t> se asocian positivamente con los componentes de masa magra, mientras que las dietas basadas en plantas mostraron tendencias opuestas. Los patrones dietéticos mediterráneos indujeron una posible asociación con perfiles antiinflamatorios. Estos resultados resaltan la posible utilidad de los métodos de reducción dimensional para comprender la presencia de </a:t>
              </a:r>
              <a:r>
                <a:rPr lang="es-ES_tradnl" i="1" dirty="0" err="1">
                  <a:solidFill>
                    <a:schemeClr val="tx1"/>
                  </a:solidFill>
                </a:rPr>
                <a:t>dietotipos</a:t>
              </a:r>
              <a:r>
                <a:rPr lang="es-ES_tradnl" i="1" dirty="0">
                  <a:solidFill>
                    <a:schemeClr val="tx1"/>
                  </a:solidFill>
                </a:rPr>
                <a:t> agrupados cualitativos que relacionan la dieta con los resultados de salud para la prescripción de nutrición de precisión.</a:t>
              </a:r>
              <a:endParaRPr lang="es-ES_tradnl" sz="2400" i="1" dirty="0">
                <a:solidFill>
                  <a:schemeClr val="tx1"/>
                </a:solidFill>
              </a:endParaRPr>
            </a:p>
          </p:txBody>
        </p:sp>
        <p:sp>
          <p:nvSpPr>
            <p:cNvPr id="25" name="Rectángulo redondeado 24">
              <a:extLst>
                <a:ext uri="{FF2B5EF4-FFF2-40B4-BE49-F238E27FC236}">
                  <a16:creationId xmlns:a16="http://schemas.microsoft.com/office/drawing/2014/main" id="{0097D6A2-C865-70C9-C895-A45D8FA392DF}"/>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pic>
        <p:nvPicPr>
          <p:cNvPr id="1028" name="Picture 4">
            <a:extLst>
              <a:ext uri="{FF2B5EF4-FFF2-40B4-BE49-F238E27FC236}">
                <a16:creationId xmlns:a16="http://schemas.microsoft.com/office/drawing/2014/main" id="{70274CC9-2241-1244-4118-364EC63C3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8F6A5FD5-7463-A593-72C7-F0E4EB285025}"/>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DE58BDFA-8AF2-7019-7FBC-D37E50AE445C}"/>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AE74DE59-F695-8E93-09D0-A92C58D17992}"/>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A8921268-A726-C96C-B743-206883618C91}"/>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Análisis descriptivos de poblaciones fenotípicas </a:t>
            </a:r>
          </a:p>
          <a:p>
            <a:pPr algn="ctr">
              <a:lnSpc>
                <a:spcPct val="80000"/>
              </a:lnSpc>
            </a:pPr>
            <a:r>
              <a:rPr lang="es-ES_tradnl" sz="2800" b="1" i="1" dirty="0">
                <a:solidFill>
                  <a:schemeClr val="bg1"/>
                </a:solidFill>
              </a:rPr>
              <a:t>Estadística y R para Ciencias de la Salud</a:t>
            </a:r>
            <a:endParaRPr lang="es-ES_tradnl" sz="3600" b="1" i="1" dirty="0">
              <a:solidFill>
                <a:schemeClr val="bg1"/>
              </a:solidFill>
            </a:endParaRPr>
          </a:p>
          <a:p>
            <a:pPr algn="ctr">
              <a:lnSpc>
                <a:spcPct val="80000"/>
              </a:lnSpc>
            </a:pPr>
            <a:r>
              <a:rPr lang="es-ES_tradnl" sz="2000" b="1" i="1" dirty="0">
                <a:solidFill>
                  <a:schemeClr val="bg1"/>
                </a:solidFill>
              </a:rPr>
              <a:t>Víctor de la O, Edwin Fernández-Cruz </a:t>
            </a:r>
          </a:p>
        </p:txBody>
      </p:sp>
      <p:sp>
        <p:nvSpPr>
          <p:cNvPr id="19" name="CuadroTexto 18">
            <a:extLst>
              <a:ext uri="{FF2B5EF4-FFF2-40B4-BE49-F238E27FC236}">
                <a16:creationId xmlns:a16="http://schemas.microsoft.com/office/drawing/2014/main" id="{16E043BC-62DC-A50A-F677-84121C77150E}"/>
              </a:ext>
            </a:extLst>
          </p:cNvPr>
          <p:cNvSpPr txBox="1"/>
          <p:nvPr/>
        </p:nvSpPr>
        <p:spPr>
          <a:xfrm>
            <a:off x="3785136" y="244115"/>
            <a:ext cx="8168971" cy="769441"/>
          </a:xfrm>
          <a:prstGeom prst="rect">
            <a:avLst/>
          </a:prstGeom>
          <a:solidFill>
            <a:srgbClr val="FF0000"/>
          </a:solidFill>
        </p:spPr>
        <p:txBody>
          <a:bodyPr wrap="square" rtlCol="0">
            <a:spAutoFit/>
          </a:bodyPr>
          <a:lstStyle/>
          <a:p>
            <a:pPr algn="ctr"/>
            <a:r>
              <a:rPr lang="es-ES_tradnl" sz="4400" b="1" dirty="0">
                <a:solidFill>
                  <a:schemeClr val="bg1"/>
                </a:solidFill>
              </a:rPr>
              <a:t>EJEMPLO DE PÓSTER</a:t>
            </a:r>
          </a:p>
        </p:txBody>
      </p:sp>
      <p:pic>
        <p:nvPicPr>
          <p:cNvPr id="1026" name="Imagen 1025">
            <a:extLst>
              <a:ext uri="{FF2B5EF4-FFF2-40B4-BE49-F238E27FC236}">
                <a16:creationId xmlns:a16="http://schemas.microsoft.com/office/drawing/2014/main" id="{CE2825C3-FEB7-85C5-586A-818E2C8F72A7}"/>
              </a:ext>
            </a:extLst>
          </p:cNvPr>
          <p:cNvPicPr>
            <a:picLocks noChangeAspect="1"/>
          </p:cNvPicPr>
          <p:nvPr/>
        </p:nvPicPr>
        <p:blipFill>
          <a:blip r:embed="rId4"/>
          <a:stretch>
            <a:fillRect/>
          </a:stretch>
        </p:blipFill>
        <p:spPr>
          <a:xfrm>
            <a:off x="1492514" y="12668012"/>
            <a:ext cx="4585243" cy="4359971"/>
          </a:xfrm>
          <a:prstGeom prst="rect">
            <a:avLst/>
          </a:prstGeom>
        </p:spPr>
      </p:pic>
      <p:pic>
        <p:nvPicPr>
          <p:cNvPr id="1030" name="Imagen 1029">
            <a:extLst>
              <a:ext uri="{FF2B5EF4-FFF2-40B4-BE49-F238E27FC236}">
                <a16:creationId xmlns:a16="http://schemas.microsoft.com/office/drawing/2014/main" id="{67AE5237-CDD3-C381-4492-77FCF77CE19F}"/>
              </a:ext>
            </a:extLst>
          </p:cNvPr>
          <p:cNvPicPr>
            <a:picLocks noChangeAspect="1"/>
          </p:cNvPicPr>
          <p:nvPr/>
        </p:nvPicPr>
        <p:blipFill>
          <a:blip r:embed="rId5"/>
          <a:stretch>
            <a:fillRect/>
          </a:stretch>
        </p:blipFill>
        <p:spPr>
          <a:xfrm>
            <a:off x="8799234" y="12556709"/>
            <a:ext cx="4488385" cy="4359971"/>
          </a:xfrm>
          <a:prstGeom prst="rect">
            <a:avLst/>
          </a:prstGeom>
        </p:spPr>
      </p:pic>
      <p:pic>
        <p:nvPicPr>
          <p:cNvPr id="1031" name="Imagen 1030">
            <a:extLst>
              <a:ext uri="{FF2B5EF4-FFF2-40B4-BE49-F238E27FC236}">
                <a16:creationId xmlns:a16="http://schemas.microsoft.com/office/drawing/2014/main" id="{48ABB6AD-8DEB-8DDF-B8F6-3CA6779148A2}"/>
              </a:ext>
            </a:extLst>
          </p:cNvPr>
          <p:cNvPicPr>
            <a:picLocks noChangeAspect="1"/>
          </p:cNvPicPr>
          <p:nvPr/>
        </p:nvPicPr>
        <p:blipFill>
          <a:blip r:embed="rId6"/>
          <a:srcRect r="-355"/>
          <a:stretch/>
        </p:blipFill>
        <p:spPr>
          <a:xfrm>
            <a:off x="500674" y="8825800"/>
            <a:ext cx="14194891" cy="2911351"/>
          </a:xfrm>
          <a:prstGeom prst="rect">
            <a:avLst/>
          </a:prstGeom>
        </p:spPr>
      </p:pic>
      <p:sp>
        <p:nvSpPr>
          <p:cNvPr id="1036" name="Rectángulo redondeado 1035">
            <a:extLst>
              <a:ext uri="{FF2B5EF4-FFF2-40B4-BE49-F238E27FC236}">
                <a16:creationId xmlns:a16="http://schemas.microsoft.com/office/drawing/2014/main" id="{AFAF9801-11D6-F874-E9A8-A3E0E4590764}"/>
              </a:ext>
            </a:extLst>
          </p:cNvPr>
          <p:cNvSpPr/>
          <p:nvPr/>
        </p:nvSpPr>
        <p:spPr>
          <a:xfrm>
            <a:off x="518258" y="8158328"/>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Diagramas de cajas de la distribución más representativa del consumo dietético según cada factor estratificado por adherencia según los valores medianos</a:t>
            </a:r>
          </a:p>
        </p:txBody>
      </p:sp>
      <p:sp>
        <p:nvSpPr>
          <p:cNvPr id="1037" name="Rectángulo redondeado 1036">
            <a:extLst>
              <a:ext uri="{FF2B5EF4-FFF2-40B4-BE49-F238E27FC236}">
                <a16:creationId xmlns:a16="http://schemas.microsoft.com/office/drawing/2014/main" id="{60842445-E351-8E63-2B2D-F06DA2DB4243}"/>
              </a:ext>
            </a:extLst>
          </p:cNvPr>
          <p:cNvSpPr/>
          <p:nvPr/>
        </p:nvSpPr>
        <p:spPr>
          <a:xfrm>
            <a:off x="518258" y="11923663"/>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Complex</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heatmap</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de características clínicas según cada Factor (F)</a:t>
            </a:r>
          </a:p>
        </p:txBody>
      </p:sp>
      <p:sp>
        <p:nvSpPr>
          <p:cNvPr id="1038" name="Rectángulo redondeado 1037">
            <a:extLst>
              <a:ext uri="{FF2B5EF4-FFF2-40B4-BE49-F238E27FC236}">
                <a16:creationId xmlns:a16="http://schemas.microsoft.com/office/drawing/2014/main" id="{20F2FDA8-F2AE-8EC6-EFD0-E92D4FCAEDFB}"/>
              </a:ext>
            </a:extLst>
          </p:cNvPr>
          <p:cNvSpPr/>
          <p:nvPr/>
        </p:nvSpPr>
        <p:spPr>
          <a:xfrm>
            <a:off x="7697422" y="11923663"/>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Diagrama de bosque de asociaciones de características clínicas según cada factor (F)</a:t>
            </a:r>
          </a:p>
        </p:txBody>
      </p:sp>
    </p:spTree>
    <p:extLst>
      <p:ext uri="{BB962C8B-B14F-4D97-AF65-F5344CB8AC3E}">
        <p14:creationId xmlns:p14="http://schemas.microsoft.com/office/powerpoint/2010/main" val="220350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177A72C3-DD61-5B61-E46F-EDD19D1F5215}"/>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E1AA44F9-4D9B-B58B-32B6-5CC8410E7CBE}"/>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C4D1F524-44A5-F16E-9FD3-EE5EA5819EAD}"/>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i="1" dirty="0">
                  <a:solidFill>
                    <a:schemeClr val="tx1"/>
                  </a:solidFill>
                </a:rPr>
                <a:t>La obesidad es una condición multifactorial influenciada por factores genéticos y ambientales. En esta actividad se analizaron 37 genes relacionados con obesidad y regulación metabólica. El objetivo fue explorar patrones de expresión génica mediante análisis de componentes principales (PCA) y evaluar su posible asociación con el sobrepeso.</a:t>
              </a:r>
              <a:r>
                <a:rPr lang="es-ES_tradnl" i="1" dirty="0">
                  <a:solidFill>
                    <a:schemeClr val="tx1"/>
                  </a:solidFill>
                </a:rPr>
                <a:t>.</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15811AE5-F929-12ED-D44E-9D1519220278}"/>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88FB225B-2F62-B172-D75B-E02EF3836A0E}"/>
              </a:ext>
            </a:extLst>
          </p:cNvPr>
          <p:cNvGrpSpPr/>
          <p:nvPr/>
        </p:nvGrpSpPr>
        <p:grpSpPr>
          <a:xfrm>
            <a:off x="207596" y="5169142"/>
            <a:ext cx="14668990" cy="1992925"/>
            <a:chOff x="207596" y="6110487"/>
            <a:chExt cx="14668990" cy="1992925"/>
          </a:xfrm>
        </p:grpSpPr>
        <p:sp>
          <p:nvSpPr>
            <p:cNvPr id="14" name="Rectángulo redondeado 13">
              <a:extLst>
                <a:ext uri="{FF2B5EF4-FFF2-40B4-BE49-F238E27FC236}">
                  <a16:creationId xmlns:a16="http://schemas.microsoft.com/office/drawing/2014/main" id="{FC179AD0-ED02-975F-E151-1E1C61EAD8F2}"/>
                </a:ext>
              </a:extLst>
            </p:cNvPr>
            <p:cNvSpPr/>
            <p:nvPr/>
          </p:nvSpPr>
          <p:spPr>
            <a:xfrm>
              <a:off x="207596" y="6427010"/>
              <a:ext cx="14668990" cy="1676402"/>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i="1" dirty="0">
                  <a:solidFill>
                    <a:schemeClr val="tx1"/>
                  </a:solidFill>
                </a:rPr>
                <a:t>Se analizaron datos de 59 individuos utilizando variables génicas comprendidas entre ADCY3 y UHMK1. Tras verificar la ausencia de valores faltantes, se evaluó la normalidad mediante el test de Shapiro-Wilk. Se aplicó un PCA sobre los genes escalados y se seleccionaron las seis primeras componentes principales. Posteriormente se realizaron análisis descriptivos por </a:t>
              </a:r>
              <a:r>
                <a:rPr lang="es-ES" i="1" dirty="0" err="1">
                  <a:solidFill>
                    <a:schemeClr val="tx1"/>
                  </a:solidFill>
                </a:rPr>
                <a:t>terciles</a:t>
              </a:r>
              <a:r>
                <a:rPr lang="es-ES" i="1" dirty="0">
                  <a:solidFill>
                    <a:schemeClr val="tx1"/>
                  </a:solidFill>
                </a:rPr>
                <a:t> de PC1, PC2 y PC3, un </a:t>
              </a:r>
              <a:r>
                <a:rPr lang="es-ES" i="1" dirty="0" err="1">
                  <a:solidFill>
                    <a:schemeClr val="tx1"/>
                  </a:solidFill>
                </a:rPr>
                <a:t>heatmap</a:t>
              </a:r>
              <a:r>
                <a:rPr lang="es-ES" i="1" dirty="0">
                  <a:solidFill>
                    <a:schemeClr val="tx1"/>
                  </a:solidFill>
                </a:rPr>
                <a:t> de correlaciones de Spearman y modelos de regresión logística ajustados por edad y sexo para evaluar la asociación con sobrepeso.</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51C45BDA-AC75-EE13-A211-698BB3CF2EDC}"/>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9" name="Grupo 8">
            <a:extLst>
              <a:ext uri="{FF2B5EF4-FFF2-40B4-BE49-F238E27FC236}">
                <a16:creationId xmlns:a16="http://schemas.microsoft.com/office/drawing/2014/main" id="{0449220D-F047-A208-80A5-ECB282B1A62A}"/>
              </a:ext>
            </a:extLst>
          </p:cNvPr>
          <p:cNvGrpSpPr/>
          <p:nvPr/>
        </p:nvGrpSpPr>
        <p:grpSpPr>
          <a:xfrm>
            <a:off x="207596" y="7161476"/>
            <a:ext cx="14668990" cy="9782603"/>
            <a:chOff x="225180" y="8290675"/>
            <a:chExt cx="14668990" cy="9782603"/>
          </a:xfrm>
        </p:grpSpPr>
        <p:sp>
          <p:nvSpPr>
            <p:cNvPr id="16" name="Rectángulo redondeado 15">
              <a:extLst>
                <a:ext uri="{FF2B5EF4-FFF2-40B4-BE49-F238E27FC236}">
                  <a16:creationId xmlns:a16="http://schemas.microsoft.com/office/drawing/2014/main" id="{F757B5F2-E57A-7217-E1AA-4D7E21F42FA0}"/>
                </a:ext>
              </a:extLst>
            </p:cNvPr>
            <p:cNvSpPr/>
            <p:nvPr/>
          </p:nvSpPr>
          <p:spPr>
            <a:xfrm>
              <a:off x="225180" y="8607196"/>
              <a:ext cx="14668990" cy="9466082"/>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D2CE81C2-DE7D-86C0-BE63-0B1C502B9BDA}"/>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pic>
        <p:nvPicPr>
          <p:cNvPr id="1028" name="Picture 4">
            <a:extLst>
              <a:ext uri="{FF2B5EF4-FFF2-40B4-BE49-F238E27FC236}">
                <a16:creationId xmlns:a16="http://schemas.microsoft.com/office/drawing/2014/main" id="{D59CAA55-5763-DE38-517F-B4583DC84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7943CC5D-1654-184E-A7EC-A76F98FA9E8B}"/>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7E5760BA-D4D0-7C9E-76ED-065ED11398EB}"/>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4D86C97A-A2AB-20A7-3EB2-1F46C5416136}"/>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70138B42-E335-E05D-E193-37141538289E}"/>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DO" sz="4000" dirty="0"/>
              <a:t>Análisis de expresión génica asociado a obesidad mediante PCA y regresión logística</a:t>
            </a:r>
          </a:p>
          <a:p>
            <a:pPr algn="ctr"/>
            <a:r>
              <a:rPr lang="es-DO" sz="2800" dirty="0"/>
              <a:t>Estadística y R para Ciencias de la Salud</a:t>
            </a:r>
            <a:endParaRPr lang="es-ES_tradnl" sz="3600" b="1" i="1" dirty="0">
              <a:solidFill>
                <a:schemeClr val="bg1"/>
              </a:solidFill>
            </a:endParaRPr>
          </a:p>
          <a:p>
            <a:pPr algn="ctr">
              <a:lnSpc>
                <a:spcPct val="80000"/>
              </a:lnSpc>
            </a:pPr>
            <a:r>
              <a:rPr lang="es-ES_tradnl" sz="2000" b="1" i="1" dirty="0">
                <a:solidFill>
                  <a:schemeClr val="bg1"/>
                </a:solidFill>
              </a:rPr>
              <a:t>Luis Angelo Cruz </a:t>
            </a:r>
            <a:r>
              <a:rPr lang="es-ES_tradnl" sz="2000" b="1" i="1" dirty="0" err="1">
                <a:solidFill>
                  <a:schemeClr val="bg1"/>
                </a:solidFill>
              </a:rPr>
              <a:t>Dévora</a:t>
            </a:r>
            <a:r>
              <a:rPr lang="es-ES_tradnl" sz="2000" b="1" i="1" dirty="0">
                <a:solidFill>
                  <a:schemeClr val="bg1"/>
                </a:solidFill>
              </a:rPr>
              <a:t> , Luis Ignacio Figueroa </a:t>
            </a:r>
            <a:r>
              <a:rPr lang="es-ES_tradnl" sz="2000" b="1" i="1" dirty="0" err="1">
                <a:solidFill>
                  <a:schemeClr val="bg1"/>
                </a:solidFill>
              </a:rPr>
              <a:t>Gomez</a:t>
            </a:r>
            <a:r>
              <a:rPr lang="es-ES_tradnl" sz="2000" b="1" i="1" dirty="0">
                <a:solidFill>
                  <a:schemeClr val="bg1"/>
                </a:solidFill>
              </a:rPr>
              <a:t> , </a:t>
            </a:r>
            <a:r>
              <a:rPr lang="es-ES_tradnl" sz="2000" b="1" i="1" dirty="0" err="1">
                <a:solidFill>
                  <a:schemeClr val="bg1"/>
                </a:solidFill>
              </a:rPr>
              <a:t>Maria</a:t>
            </a:r>
            <a:r>
              <a:rPr lang="es-ES_tradnl" sz="2000" b="1" i="1" dirty="0">
                <a:solidFill>
                  <a:schemeClr val="bg1"/>
                </a:solidFill>
              </a:rPr>
              <a:t> Alejandra Ardila </a:t>
            </a:r>
            <a:r>
              <a:rPr lang="es-ES_tradnl" sz="2000" b="1" i="1" dirty="0" err="1">
                <a:solidFill>
                  <a:schemeClr val="bg1"/>
                </a:solidFill>
              </a:rPr>
              <a:t>Jimenez</a:t>
            </a:r>
            <a:r>
              <a:rPr lang="es-ES_tradnl" sz="2000" b="1" i="1" dirty="0">
                <a:solidFill>
                  <a:schemeClr val="bg1"/>
                </a:solidFill>
              </a:rPr>
              <a:t>.</a:t>
            </a:r>
          </a:p>
        </p:txBody>
      </p:sp>
      <p:grpSp>
        <p:nvGrpSpPr>
          <p:cNvPr id="33" name="Grupo 32">
            <a:extLst>
              <a:ext uri="{FF2B5EF4-FFF2-40B4-BE49-F238E27FC236}">
                <a16:creationId xmlns:a16="http://schemas.microsoft.com/office/drawing/2014/main" id="{2C6C9477-586D-D4FB-ADEE-063D77B3A812}"/>
              </a:ext>
            </a:extLst>
          </p:cNvPr>
          <p:cNvGrpSpPr/>
          <p:nvPr/>
        </p:nvGrpSpPr>
        <p:grpSpPr>
          <a:xfrm>
            <a:off x="207596" y="16924785"/>
            <a:ext cx="9095800" cy="4264025"/>
            <a:chOff x="225181" y="17303689"/>
            <a:chExt cx="9095800" cy="3844742"/>
          </a:xfrm>
        </p:grpSpPr>
        <p:sp>
          <p:nvSpPr>
            <p:cNvPr id="34" name="Rectángulo redondeado 33">
              <a:extLst>
                <a:ext uri="{FF2B5EF4-FFF2-40B4-BE49-F238E27FC236}">
                  <a16:creationId xmlns:a16="http://schemas.microsoft.com/office/drawing/2014/main" id="{1B34C5B1-3A9B-391B-803D-711026F44639}"/>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sz="1600" i="1" dirty="0">
                  <a:solidFill>
                    <a:schemeClr val="tx1"/>
                  </a:solidFill>
                </a:rPr>
                <a:t>El análisis de componentes principales permitió reducir la dimensionalidad de los 37 genes estudiados, identificando patrones de variabilidad compartidos entre genes relacionados con obesidad y regulación metabólica. Aunque las dos primeras componentes principales explicaron únicamente el 21.0% de la variabilidad total, se observó una estructura heterogénea en los datos y la presencia de individuos claramente separados del grupo principal, lo que sugiere diferencias en sus perfiles de expresión génica.</a:t>
              </a:r>
            </a:p>
            <a:p>
              <a:pPr algn="just">
                <a:lnSpc>
                  <a:spcPct val="80000"/>
                </a:lnSpc>
              </a:pPr>
              <a:r>
                <a:rPr lang="es-ES" sz="1600" i="1" dirty="0">
                  <a:solidFill>
                    <a:schemeClr val="tx1"/>
                  </a:solidFill>
                </a:rPr>
                <a:t>El </a:t>
              </a:r>
              <a:r>
                <a:rPr lang="es-ES" sz="1600" i="1" dirty="0" err="1">
                  <a:solidFill>
                    <a:schemeClr val="tx1"/>
                  </a:solidFill>
                </a:rPr>
                <a:t>heatmap</a:t>
              </a:r>
              <a:r>
                <a:rPr lang="es-ES" sz="1600" i="1" dirty="0">
                  <a:solidFill>
                    <a:schemeClr val="tx1"/>
                  </a:solidFill>
                </a:rPr>
                <a:t> mostró que genes como NTRK2, LEP, LEPR, ADCY3, SH2B1 y POMC presentaron correlaciones relevantes con algunas de las componentes principales. Estos genes han sido descritos previamente en procesos relacionados con la regulación del apetito, el balance energético y el desarrollo de obesidad, lo que respalda la coherencia biológica de los resultados obtenidos.</a:t>
              </a:r>
            </a:p>
            <a:p>
              <a:pPr algn="just">
                <a:lnSpc>
                  <a:spcPct val="80000"/>
                </a:lnSpc>
              </a:pPr>
              <a:r>
                <a:rPr lang="es-ES" sz="1600" i="1" dirty="0">
                  <a:solidFill>
                    <a:schemeClr val="tx1"/>
                  </a:solidFill>
                </a:rPr>
                <a:t>Sin embargo, los modelos de regresión logística no identificaron asociaciones estadísticamente significativas entre los </a:t>
              </a:r>
              <a:r>
                <a:rPr lang="es-ES" sz="1600" i="1" dirty="0" err="1">
                  <a:solidFill>
                    <a:schemeClr val="tx1"/>
                  </a:solidFill>
                </a:rPr>
                <a:t>terciles</a:t>
              </a:r>
              <a:r>
                <a:rPr lang="es-ES" sz="1600" i="1" dirty="0">
                  <a:solidFill>
                    <a:schemeClr val="tx1"/>
                  </a:solidFill>
                </a:rPr>
                <a:t> de PC1, PC2 o PC3 y la presencia de sobrepeso. En contraste, la edad mostró una asociación positiva y significativa, sugiriendo que en esta muestra el efecto de la edad sobre el riesgo de sobrepeso fue más evidente que el capturado por los patrones globales de expresión génica resumidos mediante PCA.</a:t>
              </a:r>
              <a:endParaRPr lang="es-ES_tradnl" sz="2000" i="1" dirty="0">
                <a:solidFill>
                  <a:schemeClr val="tx1"/>
                </a:solidFill>
              </a:endParaRPr>
            </a:p>
          </p:txBody>
        </p:sp>
        <p:sp>
          <p:nvSpPr>
            <p:cNvPr id="35" name="Rectángulo redondeado 34">
              <a:extLst>
                <a:ext uri="{FF2B5EF4-FFF2-40B4-BE49-F238E27FC236}">
                  <a16:creationId xmlns:a16="http://schemas.microsoft.com/office/drawing/2014/main" id="{3BC039B6-C9D2-02F3-8F27-C85043A7CC84}"/>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36" name="Grupo 35">
            <a:extLst>
              <a:ext uri="{FF2B5EF4-FFF2-40B4-BE49-F238E27FC236}">
                <a16:creationId xmlns:a16="http://schemas.microsoft.com/office/drawing/2014/main" id="{7CDA7380-1384-C476-FC20-7A4A09E7B7FE}"/>
              </a:ext>
            </a:extLst>
          </p:cNvPr>
          <p:cNvGrpSpPr/>
          <p:nvPr/>
        </p:nvGrpSpPr>
        <p:grpSpPr>
          <a:xfrm>
            <a:off x="9509874" y="16944079"/>
            <a:ext cx="5366712" cy="4341120"/>
            <a:chOff x="7784856" y="17303689"/>
            <a:chExt cx="7109314" cy="4341120"/>
          </a:xfrm>
        </p:grpSpPr>
        <p:sp>
          <p:nvSpPr>
            <p:cNvPr id="37" name="Rectángulo redondeado 36">
              <a:extLst>
                <a:ext uri="{FF2B5EF4-FFF2-40B4-BE49-F238E27FC236}">
                  <a16:creationId xmlns:a16="http://schemas.microsoft.com/office/drawing/2014/main" id="{367F38DE-6476-4ED5-51AD-7070BD6A603F}"/>
                </a:ext>
              </a:extLst>
            </p:cNvPr>
            <p:cNvSpPr/>
            <p:nvPr/>
          </p:nvSpPr>
          <p:spPr>
            <a:xfrm>
              <a:off x="7784856" y="17620210"/>
              <a:ext cx="7109314" cy="4024599"/>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sz="1600" i="1" dirty="0">
                  <a:solidFill>
                    <a:schemeClr val="tx1"/>
                  </a:solidFill>
                </a:rPr>
                <a:t>El PCA permitió resumir la información contenida en 37 genes relacionados con obesidad, explicando aproximadamente el 43.9% de la variabilidad total mediante las seis primeras componentes principales. Los análisis exploratorios identificaron patrones de correlación entre genes implicados en la regulación energética y el control del peso corporal.</a:t>
              </a:r>
            </a:p>
            <a:p>
              <a:pPr algn="just">
                <a:lnSpc>
                  <a:spcPct val="80000"/>
                </a:lnSpc>
              </a:pPr>
              <a:r>
                <a:rPr lang="es-ES" sz="1600" i="1" dirty="0">
                  <a:solidFill>
                    <a:schemeClr val="tx1"/>
                  </a:solidFill>
                </a:rPr>
                <a:t>No se encontraron asociaciones significativas entre los </a:t>
              </a:r>
              <a:r>
                <a:rPr lang="es-ES" sz="1600" i="1" dirty="0" err="1">
                  <a:solidFill>
                    <a:schemeClr val="tx1"/>
                  </a:solidFill>
                </a:rPr>
                <a:t>terciles</a:t>
              </a:r>
              <a:r>
                <a:rPr lang="es-ES" sz="1600" i="1" dirty="0">
                  <a:solidFill>
                    <a:schemeClr val="tx1"/>
                  </a:solidFill>
                </a:rPr>
                <a:t> de las componentes principales y el sobrepeso tras el ajuste por edad y sexo. Sin embargo, la edad se identificó como un predictor significativo de sobrepeso. Estos resultados sugieren que la información génica analizada podría contribuir a la caracterización biológica de los individuos, aunque serían necesarios estudios con mayor tamaño muestral para confirmar posibles asociaciones con variables clínicas</a:t>
              </a:r>
              <a:r>
                <a:rPr lang="es-ES" i="1" dirty="0">
                  <a:solidFill>
                    <a:schemeClr val="tx1"/>
                  </a:solidFill>
                </a:rPr>
                <a:t>.</a:t>
              </a:r>
              <a:endParaRPr lang="es-ES_tradnl" sz="2400" i="1" dirty="0">
                <a:solidFill>
                  <a:schemeClr val="tx1"/>
                </a:solidFill>
              </a:endParaRPr>
            </a:p>
          </p:txBody>
        </p:sp>
        <p:sp>
          <p:nvSpPr>
            <p:cNvPr id="38" name="Rectángulo redondeado 37">
              <a:extLst>
                <a:ext uri="{FF2B5EF4-FFF2-40B4-BE49-F238E27FC236}">
                  <a16:creationId xmlns:a16="http://schemas.microsoft.com/office/drawing/2014/main" id="{0757AA33-190F-8E74-0CAC-D7C442BACE75}"/>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sp>
        <p:nvSpPr>
          <p:cNvPr id="39" name="Rectángulo redondeado 38">
            <a:extLst>
              <a:ext uri="{FF2B5EF4-FFF2-40B4-BE49-F238E27FC236}">
                <a16:creationId xmlns:a16="http://schemas.microsoft.com/office/drawing/2014/main" id="{05ACB882-C17A-7163-5754-50C1DB29AA22}"/>
              </a:ext>
            </a:extLst>
          </p:cNvPr>
          <p:cNvSpPr/>
          <p:nvPr/>
        </p:nvSpPr>
        <p:spPr>
          <a:xfrm>
            <a:off x="391258" y="7940860"/>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80000"/>
              </a:lnSpc>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_tradnl" sz="1800" b="1" i="0" u="none" strike="noStrike" kern="1200" cap="none" spc="0" normalizeH="0" baseline="0" noProof="0" dirty="0" err="1">
                <a:ln>
                  <a:noFill/>
                </a:ln>
                <a:solidFill>
                  <a:srgbClr val="4196C9"/>
                </a:solidFill>
                <a:effectLst/>
                <a:uLnTx/>
                <a:uFillTx/>
                <a:latin typeface="Aptos" panose="02110004020202020204"/>
                <a:ea typeface="+mn-ea"/>
                <a:cs typeface="+mn-cs"/>
              </a:rPr>
              <a:t>Scree</a:t>
            </a: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 </a:t>
            </a:r>
            <a:r>
              <a:rPr kumimoji="0" lang="es-ES_tradnl" sz="1800" b="1" i="0" u="none" strike="noStrike" kern="1200" cap="none" spc="0" normalizeH="0" baseline="0" noProof="0" dirty="0" err="1">
                <a:ln>
                  <a:noFill/>
                </a:ln>
                <a:solidFill>
                  <a:srgbClr val="4196C9"/>
                </a:solidFill>
                <a:effectLst/>
                <a:uLnTx/>
                <a:uFillTx/>
                <a:latin typeface="Aptos" panose="02110004020202020204"/>
                <a:ea typeface="+mn-ea"/>
                <a:cs typeface="+mn-cs"/>
              </a:rPr>
              <a:t>plot</a:t>
            </a: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 del PCA. </a:t>
            </a:r>
            <a:r>
              <a:rPr lang="es-ES" dirty="0">
                <a:solidFill>
                  <a:prstClr val="black"/>
                </a:solidFill>
              </a:rPr>
              <a:t>Las seis primeras componentes principales explicaron aproximadamente el 43.9% de la variabilidad total. La PC1 y la PC2 explicaron el 12.5% y el 8.6%, respectivamente, observándose una disminución progresiva de la varianza explicada y la ausencia de un punto de corte abrupto, lo que sugiere que la variabilidad génica se distribuye entre múltiples componentes.</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Rectángulo redondeado 39">
            <a:extLst>
              <a:ext uri="{FF2B5EF4-FFF2-40B4-BE49-F238E27FC236}">
                <a16:creationId xmlns:a16="http://schemas.microsoft.com/office/drawing/2014/main" id="{3F03464F-6AD8-145A-F4F0-58880920BB73}"/>
              </a:ext>
            </a:extLst>
          </p:cNvPr>
          <p:cNvSpPr/>
          <p:nvPr/>
        </p:nvSpPr>
        <p:spPr>
          <a:xfrm>
            <a:off x="6097486" y="9235139"/>
            <a:ext cx="8343910"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a:t>
            </a:r>
            <a:r>
              <a:rPr kumimoji="0" lang="es-ES" sz="1800" b="1" i="0" u="none" strike="noStrike" kern="1200" cap="none" spc="0" normalizeH="0" baseline="0" noProof="0" dirty="0">
                <a:ln>
                  <a:noFill/>
                </a:ln>
                <a:solidFill>
                  <a:srgbClr val="4196C9"/>
                </a:solidFill>
                <a:effectLst/>
                <a:uLnTx/>
                <a:uFillTx/>
                <a:latin typeface="Aptos" panose="02110004020202020204"/>
                <a:ea typeface="+mn-ea"/>
                <a:cs typeface="+mn-cs"/>
              </a:rPr>
              <a:t> Distribución de individuos en el espacio PCA.</a:t>
            </a: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 </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La mayoría de los pacientes se agrupó alrededor del origen del plano factorial, mientras que algunos individuos mostraron una separación evidente del grupo principal, indicando posibles diferencias en sus perfiles globales de expresión génica. Las dos primeras componentes explicaron conjuntamente aproximadamente el 21.0% de la variabilidad total.</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41" name="Rectángulo redondeado 40">
            <a:extLst>
              <a:ext uri="{FF2B5EF4-FFF2-40B4-BE49-F238E27FC236}">
                <a16:creationId xmlns:a16="http://schemas.microsoft.com/office/drawing/2014/main" id="{A5674FB9-8324-DF2F-A950-34B0495EFB78}"/>
              </a:ext>
            </a:extLst>
          </p:cNvPr>
          <p:cNvSpPr/>
          <p:nvPr/>
        </p:nvSpPr>
        <p:spPr>
          <a:xfrm>
            <a:off x="391258" y="12493196"/>
            <a:ext cx="631434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a:t>
            </a:r>
            <a:r>
              <a:rPr kumimoji="0" lang="es-ES" sz="1800" b="1" i="0" u="none" strike="noStrike" kern="1200" cap="none" spc="0" normalizeH="0" baseline="0" noProof="0" dirty="0">
                <a:ln>
                  <a:noFill/>
                </a:ln>
                <a:solidFill>
                  <a:srgbClr val="4196C9"/>
                </a:solidFill>
                <a:effectLst/>
                <a:uLnTx/>
                <a:uFillTx/>
                <a:latin typeface="Aptos" panose="02110004020202020204"/>
                <a:ea typeface="+mn-ea"/>
                <a:cs typeface="+mn-cs"/>
              </a:rPr>
              <a:t> </a:t>
            </a:r>
            <a:r>
              <a:rPr kumimoji="0" lang="es-ES" sz="1800" b="1" i="0" u="none" strike="noStrike" kern="1200" cap="none" spc="0" normalizeH="0" baseline="0" noProof="0" dirty="0" err="1">
                <a:ln>
                  <a:noFill/>
                </a:ln>
                <a:solidFill>
                  <a:srgbClr val="4196C9"/>
                </a:solidFill>
                <a:effectLst/>
                <a:uLnTx/>
                <a:uFillTx/>
                <a:latin typeface="Aptos" panose="02110004020202020204"/>
                <a:ea typeface="+mn-ea"/>
                <a:cs typeface="+mn-cs"/>
              </a:rPr>
              <a:t>Heatmap</a:t>
            </a:r>
            <a:r>
              <a:rPr kumimoji="0" lang="es-ES" sz="1800" b="1" i="0" u="none" strike="noStrike" kern="1200" cap="none" spc="0" normalizeH="0" baseline="0" noProof="0" dirty="0">
                <a:ln>
                  <a:noFill/>
                </a:ln>
                <a:solidFill>
                  <a:srgbClr val="4196C9"/>
                </a:solidFill>
                <a:effectLst/>
                <a:uLnTx/>
                <a:uFillTx/>
                <a:latin typeface="Aptos" panose="02110004020202020204"/>
                <a:ea typeface="+mn-ea"/>
                <a:cs typeface="+mn-cs"/>
              </a:rPr>
              <a:t> de correlaciones de Spearman entre genes y componentes principales.</a:t>
            </a: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 </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Se observaron correlaciones positivas y negativas entre los genes y las seis primeras componentes principales. Genes implicados en la regulación energética y el control del peso corporal, como NTRK2, LEP, LEPR, ADCY3, SH2B1 y POMC, mostraron asociaciones destacadas con determinadas componentes, sugiriendo una contribución relevante a la variabilidad global de los perfiles de expresión génica</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10" name="Rectángulo 9">
            <a:extLst>
              <a:ext uri="{FF2B5EF4-FFF2-40B4-BE49-F238E27FC236}">
                <a16:creationId xmlns:a16="http://schemas.microsoft.com/office/drawing/2014/main" id="{752E41A8-321F-9738-3C5D-6A06F56FB54D}"/>
              </a:ext>
            </a:extLst>
          </p:cNvPr>
          <p:cNvSpPr/>
          <p:nvPr/>
        </p:nvSpPr>
        <p:spPr>
          <a:xfrm>
            <a:off x="677954" y="8743950"/>
            <a:ext cx="4984342" cy="2910080"/>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
        <p:nvSpPr>
          <p:cNvPr id="11" name="Rectángulo 10">
            <a:extLst>
              <a:ext uri="{FF2B5EF4-FFF2-40B4-BE49-F238E27FC236}">
                <a16:creationId xmlns:a16="http://schemas.microsoft.com/office/drawing/2014/main" id="{19704D41-33CF-29E6-9FEA-3CC9F68A5ECA}"/>
              </a:ext>
            </a:extLst>
          </p:cNvPr>
          <p:cNvSpPr/>
          <p:nvPr/>
        </p:nvSpPr>
        <p:spPr>
          <a:xfrm>
            <a:off x="8413752" y="10039362"/>
            <a:ext cx="5522057" cy="3444467"/>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
        <p:nvSpPr>
          <p:cNvPr id="12" name="Rectángulo 11">
            <a:extLst>
              <a:ext uri="{FF2B5EF4-FFF2-40B4-BE49-F238E27FC236}">
                <a16:creationId xmlns:a16="http://schemas.microsoft.com/office/drawing/2014/main" id="{59E2213A-8B57-C81B-8E96-9D5CF73D93B0}"/>
              </a:ext>
            </a:extLst>
          </p:cNvPr>
          <p:cNvSpPr/>
          <p:nvPr/>
        </p:nvSpPr>
        <p:spPr>
          <a:xfrm>
            <a:off x="4048329" y="13649702"/>
            <a:ext cx="4984342" cy="3084549"/>
          </a:xfrm>
          <a:prstGeom prst="rect">
            <a:avLst/>
          </a:prstGeom>
          <a:blipFill dpi="0" rotWithShape="1">
            <a:blip r:embed="rId6">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Tree>
    <p:extLst>
      <p:ext uri="{BB962C8B-B14F-4D97-AF65-F5344CB8AC3E}">
        <p14:creationId xmlns:p14="http://schemas.microsoft.com/office/powerpoint/2010/main" val="4045999932"/>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Props1.xml><?xml version="1.0" encoding="utf-8"?>
<ds:datastoreItem xmlns:ds="http://schemas.openxmlformats.org/officeDocument/2006/customXml" ds:itemID="{F0E4AC05-6E48-496A-9B4A-D9E0A45171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FA9EA36-75B9-47E0-B3F6-D548E75A2A5A}">
  <ds:schemaRefs>
    <ds:schemaRef ds:uri="http://schemas.microsoft.com/sharepoint/v3/contenttype/forms"/>
  </ds:schemaRefs>
</ds:datastoreItem>
</file>

<file path=customXml/itemProps3.xml><?xml version="1.0" encoding="utf-8"?>
<ds:datastoreItem xmlns:ds="http://schemas.openxmlformats.org/officeDocument/2006/customXml" ds:itemID="{ECFF8D81-72FC-452A-A72A-98522D59D5C9}">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docMetadata/LabelInfo.xml><?xml version="1.0" encoding="utf-8"?>
<clbl:labelList xmlns:clbl="http://schemas.microsoft.com/office/2020/mipLabelMetadata">
  <clbl:label id="{0361ecad-3f61-4749-aa5c-87fde47ef9ad}" enabled="1" method="Privileged" siteId="{22c8b4a4-d926-43b2-bcc7-87b998590b47}" contentBits="0" removed="0"/>
</clbl:labelList>
</file>

<file path=docProps/app.xml><?xml version="1.0" encoding="utf-8"?>
<Properties xmlns="http://schemas.openxmlformats.org/officeDocument/2006/extended-properties" xmlns:vt="http://schemas.openxmlformats.org/officeDocument/2006/docPropsVTypes">
  <Template>Office Theme</Template>
  <TotalTime>87</TotalTime>
  <Words>1538</Words>
  <Application>Microsoft Office PowerPoint</Application>
  <PresentationFormat>Personalizado</PresentationFormat>
  <Paragraphs>60</Paragraphs>
  <Slides>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vt:i4>
      </vt:variant>
    </vt:vector>
  </HeadingPairs>
  <TitlesOfParts>
    <vt:vector size="8" baseType="lpstr">
      <vt:lpstr>Aptos</vt:lpstr>
      <vt:lpstr>Aptos Display</vt:lpstr>
      <vt:lpstr>Arial</vt:lpstr>
      <vt:lpstr>Wingdings</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de la O Pascual</dc:creator>
  <cp:lastModifiedBy>Luis Angelo Cruz</cp:lastModifiedBy>
  <cp:revision>18</cp:revision>
  <dcterms:created xsi:type="dcterms:W3CDTF">2025-04-21T10:03:24Z</dcterms:created>
  <dcterms:modified xsi:type="dcterms:W3CDTF">2026-06-17T15:48:33Z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